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2A98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720576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 — SPIRITS HOUSE · ST. TROPEZ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59676" y="533400"/>
            <a:ext cx="59853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 DIRECTION · V1.0 / MAY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4652963"/>
            <a:ext cx="1648206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0" i="1" spc="-210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Victory.</a:t>
            </a:r>
            <a:endParaRPr lang="en-US" sz="21000" dirty="0"/>
          </a:p>
        </p:txBody>
      </p:sp>
      <p:sp>
        <p:nvSpPr>
          <p:cNvPr id="6" name="Text 4"/>
          <p:cNvSpPr/>
          <p:nvPr/>
        </p:nvSpPr>
        <p:spPr>
          <a:xfrm>
            <a:off x="1143000" y="7891463"/>
            <a:ext cx="667131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F2EAD6">
                    <a:alpha val="9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 redirection of the house — the rosé, the gin, the rouge, the blanc — composed for the last hour of light and the long evening that follows it.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852624" y="8705850"/>
            <a:ext cx="339114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N° 001 — Internal review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792700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BRAND ESSENCE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088630"/>
            <a:ext cx="7927009" cy="1680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0" i="1" spc="-66" kern="0" dirty="0">
                <a:solidFill>
                  <a:srgbClr val="A0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Sun-warmed, slowly poured.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5264795"/>
            <a:ext cx="5690235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3E2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 is a quiet luxury house from the south of France. A rosé, a blanc, a rouge, a gin — four spirits with one philosophy: long ferments, southern light, and the time the sun takes to set.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9029700"/>
            <a:ext cx="79270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Brand essence, in one paragraph.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126" y="0"/>
            <a:ext cx="8686800" cy="10287000"/>
          </a:xfrm>
          <a:prstGeom prst="rect">
            <a:avLst/>
          </a:prstGeom>
          <a:solidFill>
            <a:srgbClr val="C9603F"/>
          </a:solidFill>
          <a:ln/>
        </p:spPr>
      </p:sp>
      <p:sp>
        <p:nvSpPr>
          <p:cNvPr id="7" name="Text 5"/>
          <p:cNvSpPr/>
          <p:nvPr/>
        </p:nvSpPr>
        <p:spPr>
          <a:xfrm>
            <a:off x="10363126" y="2288530"/>
            <a:ext cx="698525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2EAD6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PILLARS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63126" y="3121968"/>
            <a:ext cx="6985254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i="1" spc="-1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Sun-warmed.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0363126" y="3718173"/>
            <a:ext cx="69852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F2EAD6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Provence at golden hour is the brief, always.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363126" y="4445868"/>
            <a:ext cx="6985254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i="1" spc="-1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Slow.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0363126" y="5042074"/>
            <a:ext cx="69852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F2EAD6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ferments, generous type, no shouting.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363126" y="5769769"/>
            <a:ext cx="6985254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i="1" spc="-1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Crafted.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0363126" y="6365974"/>
            <a:ext cx="69852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F2EAD6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label is a small piece of paper engineering.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363126" y="7093669"/>
            <a:ext cx="6985254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i="1" spc="-1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Quietly proud.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0363126" y="7689875"/>
            <a:ext cx="69852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i="1" dirty="0">
                <a:solidFill>
                  <a:srgbClr val="F2EAD6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Confident, never loud. The room turns to it.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53738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THE MONOGRAM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73531" y="533400"/>
            <a:ext cx="637146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· CONSTRUCTION · CLEAR SPACE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62250" y="2381250"/>
            <a:ext cx="4381500" cy="5905500"/>
          </a:xfrm>
          <a:prstGeom prst="rect">
            <a:avLst/>
          </a:prstGeom>
          <a:solidFill>
            <a:srgbClr val="E8DEC6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62250" y="2381250"/>
            <a:ext cx="4381500" cy="59055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6" name="Shape 4"/>
          <p:cNvSpPr/>
          <p:nvPr/>
        </p:nvSpPr>
        <p:spPr>
          <a:xfrm>
            <a:off x="3550890" y="3326085"/>
            <a:ext cx="2804220" cy="4015829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7" name="Text 5"/>
          <p:cNvSpPr/>
          <p:nvPr/>
        </p:nvSpPr>
        <p:spPr>
          <a:xfrm>
            <a:off x="3975795" y="4011885"/>
            <a:ext cx="2030611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4252689" y="6823546"/>
            <a:ext cx="1400547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00" spc="105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 MAISON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0" y="2227957"/>
            <a:ext cx="7848600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i="1" spc="-19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serif V , set in Bodoni Moda italic — terracotta on olive.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525000" y="3687068"/>
            <a:ext cx="7620000" cy="9525"/>
          </a:xfrm>
          <a:prstGeom prst="rect">
            <a:avLst/>
          </a:prstGeom>
          <a:solidFill>
            <a:srgbClr val="1A141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4115693"/>
            <a:ext cx="25454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HEIGHT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75282" y="4115693"/>
            <a:ext cx="49128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 × base unit (U)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0" y="4582418"/>
            <a:ext cx="25454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SPACE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75282" y="4582418"/>
            <a:ext cx="49128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U on every side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5000" y="5049143"/>
            <a:ext cx="25454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SIZE — PRINT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75282" y="5049143"/>
            <a:ext cx="49128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mm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0" y="5515868"/>
            <a:ext cx="25454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SIZE — DIGITAL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75282" y="5515868"/>
            <a:ext cx="49128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px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0" y="5982593"/>
            <a:ext cx="254548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75282" y="5982593"/>
            <a:ext cx="49128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Rotate, outline, recolor outside palette, set on photography without a card.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0" y="7173218"/>
            <a:ext cx="7620000" cy="9525"/>
          </a:xfrm>
          <a:prstGeom prst="rect">
            <a:avLst/>
          </a:prstGeom>
          <a:solidFill>
            <a:srgbClr val="1A1410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0" y="7601843"/>
            <a:ext cx="838200" cy="8382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23" name="Text 21"/>
          <p:cNvSpPr/>
          <p:nvPr/>
        </p:nvSpPr>
        <p:spPr>
          <a:xfrm>
            <a:off x="9724579" y="7716143"/>
            <a:ext cx="51516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10744200" y="7716143"/>
            <a:ext cx="609600" cy="6096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25" name="Text 23"/>
          <p:cNvSpPr/>
          <p:nvPr/>
        </p:nvSpPr>
        <p:spPr>
          <a:xfrm>
            <a:off x="10898014" y="7811393"/>
            <a:ext cx="37817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300" dirty="0"/>
          </a:p>
        </p:txBody>
      </p:sp>
      <p:sp>
        <p:nvSpPr>
          <p:cNvPr id="26" name="Shape 24"/>
          <p:cNvSpPr/>
          <p:nvPr/>
        </p:nvSpPr>
        <p:spPr>
          <a:xfrm>
            <a:off x="11734800" y="7830443"/>
            <a:ext cx="381000" cy="3810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27" name="Text 25"/>
          <p:cNvSpPr/>
          <p:nvPr/>
        </p:nvSpPr>
        <p:spPr>
          <a:xfrm>
            <a:off x="11828934" y="7887593"/>
            <a:ext cx="2688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2496800" y="7906643"/>
            <a:ext cx="228600" cy="2286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29" name="Text 27"/>
          <p:cNvSpPr/>
          <p:nvPr/>
        </p:nvSpPr>
        <p:spPr>
          <a:xfrm>
            <a:off x="12555810" y="7944743"/>
            <a:ext cx="1867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106400" y="7678043"/>
            <a:ext cx="19967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holds down to 14 mm.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53738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THE WORDMARK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12081" y="533400"/>
            <a:ext cx="1023291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LOCKUPS · PRIMARY, HORIZONTAL, SINGLE LINE, SEAL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43000" y="1524000"/>
            <a:ext cx="7734300" cy="4467225"/>
          </a:xfrm>
          <a:prstGeom prst="rect">
            <a:avLst/>
          </a:prstGeom>
          <a:solidFill>
            <a:srgbClr val="E8DEC6"/>
          </a:solidFill>
          <a:ln/>
        </p:spPr>
      </p:sp>
      <p:sp>
        <p:nvSpPr>
          <p:cNvPr id="5" name="Text 3"/>
          <p:cNvSpPr/>
          <p:nvPr/>
        </p:nvSpPr>
        <p:spPr>
          <a:xfrm>
            <a:off x="1752600" y="2057400"/>
            <a:ext cx="67105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Primary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54874" y="2400300"/>
            <a:ext cx="6710553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0" i="1" dirty="0">
                <a:solidFill>
                  <a:srgbClr val="A04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1654874" y="4286250"/>
            <a:ext cx="6710553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spc="588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54874" y="5157788"/>
            <a:ext cx="67105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i="1" dirty="0">
                <a:solidFill>
                  <a:srgbClr val="3E2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St. Tropez — Est. 2019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10700" y="1524000"/>
            <a:ext cx="7734300" cy="4467225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10" name="Text 8"/>
          <p:cNvSpPr/>
          <p:nvPr/>
        </p:nvSpPr>
        <p:spPr>
          <a:xfrm>
            <a:off x="10020300" y="2057400"/>
            <a:ext cx="67105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Horizontal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76608" y="3157538"/>
            <a:ext cx="1309836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5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3500" dirty="0"/>
          </a:p>
        </p:txBody>
      </p:sp>
      <p:sp>
        <p:nvSpPr>
          <p:cNvPr id="12" name="Shape 10"/>
          <p:cNvSpPr/>
          <p:nvPr/>
        </p:nvSpPr>
        <p:spPr>
          <a:xfrm>
            <a:off x="12653144" y="3371850"/>
            <a:ext cx="9525" cy="1114425"/>
          </a:xfrm>
          <a:prstGeom prst="rect">
            <a:avLst/>
          </a:prstGeom>
          <a:solidFill>
            <a:srgbClr val="F2EAD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005569" y="3371850"/>
            <a:ext cx="2549723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432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005569" y="4105275"/>
            <a:ext cx="25497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Maison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143000" y="6524625"/>
            <a:ext cx="7734300" cy="4076700"/>
          </a:xfrm>
          <a:prstGeom prst="rect">
            <a:avLst/>
          </a:prstGeom>
          <a:solidFill>
            <a:srgbClr val="C9603F"/>
          </a:solidFill>
          <a:ln/>
        </p:spPr>
      </p:sp>
      <p:sp>
        <p:nvSpPr>
          <p:cNvPr id="16" name="Text 14"/>
          <p:cNvSpPr/>
          <p:nvPr/>
        </p:nvSpPr>
        <p:spPr>
          <a:xfrm>
            <a:off x="1752600" y="7058025"/>
            <a:ext cx="67105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Single line · For headers, footers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54874" y="7781925"/>
            <a:ext cx="671055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15000" dirty="0"/>
          </a:p>
        </p:txBody>
      </p:sp>
      <p:sp>
        <p:nvSpPr>
          <p:cNvPr id="18" name="Shape 16"/>
          <p:cNvSpPr/>
          <p:nvPr/>
        </p:nvSpPr>
        <p:spPr>
          <a:xfrm>
            <a:off x="9410700" y="6524625"/>
            <a:ext cx="7734300" cy="4076700"/>
          </a:xfrm>
          <a:prstGeom prst="rect">
            <a:avLst/>
          </a:prstGeom>
          <a:solidFill>
            <a:srgbClr val="E8DEC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20300" y="7058025"/>
            <a:ext cx="67105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Seal · For caps, corks, coasters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944350" y="7400925"/>
            <a:ext cx="2667000" cy="2667000"/>
          </a:xfrm>
          <a:prstGeom prst="ellipse">
            <a:avLst/>
          </a:prstGeom>
          <a:solidFill>
            <a:srgbClr val="4A4E2C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77700" y="7534275"/>
            <a:ext cx="2400300" cy="2400300"/>
          </a:xfrm>
          <a:prstGeom prst="ellipse">
            <a:avLst/>
          </a:prstGeom>
          <a:ln w="9525">
            <a:solidFill>
              <a:srgbClr val="F2EAD6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66638" y="7984331"/>
            <a:ext cx="89862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9000" dirty="0"/>
          </a:p>
        </p:txBody>
      </p:sp>
      <p:sp>
        <p:nvSpPr>
          <p:cNvPr id="23" name="Text 21"/>
          <p:cNvSpPr/>
          <p:nvPr/>
        </p:nvSpPr>
        <p:spPr>
          <a:xfrm>
            <a:off x="12787015" y="9127331"/>
            <a:ext cx="105779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732916" y="9341644"/>
            <a:ext cx="11659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73" kern="0" dirty="0">
                <a:solidFill>
                  <a:srgbClr val="F2EAD6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 · 2019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1512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TYPOGRAPHY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194314" y="533400"/>
            <a:ext cx="695068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FAMILIES · DISPLAY, BODY, MONO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24000"/>
            <a:ext cx="7063740" cy="409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900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Vv</a:t>
            </a:r>
            <a:endParaRPr lang="en-US" sz="39000" dirty="0"/>
          </a:p>
        </p:txBody>
      </p:sp>
      <p:sp>
        <p:nvSpPr>
          <p:cNvPr id="5" name="Text 3"/>
          <p:cNvSpPr/>
          <p:nvPr/>
        </p:nvSpPr>
        <p:spPr>
          <a:xfrm>
            <a:off x="1143000" y="5814045"/>
            <a:ext cx="70637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AB4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BODONI MODA · ITALIC · DISPLAY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7019925"/>
            <a:ext cx="706374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16500" dirty="0"/>
          </a:p>
        </p:txBody>
      </p:sp>
      <p:sp>
        <p:nvSpPr>
          <p:cNvPr id="7" name="Text 5"/>
          <p:cNvSpPr/>
          <p:nvPr/>
        </p:nvSpPr>
        <p:spPr>
          <a:xfrm>
            <a:off x="1143000" y="9077325"/>
            <a:ext cx="70637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BAB4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CORMORANT GARAMOND · BODY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63000" y="1524000"/>
            <a:ext cx="8633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4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· 88–168 PX · TITLES &amp; HEROES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63000" y="2038350"/>
            <a:ext cx="863346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Slow-made </a:t>
            </a:r>
            <a:pPr algn="l" indent="0" marL="0">
              <a:lnSpc>
                <a:spcPct val="95000"/>
              </a:lnSpc>
              <a:buNone/>
            </a:pPr>
            <a:r>
              <a:rPr lang="en-US" sz="720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rosé </a:t>
            </a:r>
            <a:pPr algn="l" indent="0" marL="0">
              <a:lnSpc>
                <a:spcPct val="95000"/>
              </a:lnSpc>
              <a:buNone/>
            </a:pPr>
            <a:r>
              <a:rPr lang="en-US" sz="72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botanical gin.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763000" y="4309021"/>
            <a:ext cx="8633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4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SERIF BODY · 28–32 PX · LONG-FORM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63000" y="4804321"/>
            <a:ext cx="706374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Hand-picked grapes from sun-warmed Provençal hills, and a quiet still at the back of an old farmhouse. Four spirits, one philosophy, and the time the sun takes to set.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763000" y="6937921"/>
            <a:ext cx="8633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4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 · 16–22 PX · LABELS, METADATA, UI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63000" y="7414171"/>
            <a:ext cx="863346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VINTAGE 2024 · BOTTLE N° 0428 / 3000 · 12.5% VOL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763000" y="7995196"/>
            <a:ext cx="863346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BAB4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 DISPLAY ITALIC WITH UPRIGHT MONO. NEVER MIX TWO ITALICS.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73046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COLOR PALETTE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897328" y="533400"/>
            <a:ext cx="424767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SEVEN TONES · ONE MOOD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1680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0" i="1" spc="-66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colors of the long evening.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0" y="5143500"/>
            <a:ext cx="3507284" cy="5143500"/>
          </a:xfrm>
          <a:prstGeom prst="rect">
            <a:avLst/>
          </a:prstGeom>
          <a:solidFill>
            <a:srgbClr val="261519"/>
          </a:solidFill>
          <a:ln/>
        </p:spPr>
      </p:sp>
      <p:sp>
        <p:nvSpPr>
          <p:cNvPr id="6" name="Text 4"/>
          <p:cNvSpPr/>
          <p:nvPr/>
        </p:nvSpPr>
        <p:spPr>
          <a:xfrm>
            <a:off x="304800" y="5486400"/>
            <a:ext cx="29846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· DARK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800" y="7943850"/>
            <a:ext cx="298461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Aubergine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04800" y="8572500"/>
            <a:ext cx="29846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#261519 · OKLCH 0.21 0.02 20 R38 G21 B25 · Pantone 5115 C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07284" y="5143500"/>
            <a:ext cx="2505149" cy="5143500"/>
          </a:xfrm>
          <a:prstGeom prst="rect">
            <a:avLst/>
          </a:prstGeom>
          <a:solidFill>
            <a:srgbClr val="C9603F"/>
          </a:solidFill>
          <a:ln/>
        </p:spPr>
      </p:sp>
      <p:sp>
        <p:nvSpPr>
          <p:cNvPr id="10" name="Text 8"/>
          <p:cNvSpPr/>
          <p:nvPr/>
        </p:nvSpPr>
        <p:spPr>
          <a:xfrm>
            <a:off x="3773984" y="5486400"/>
            <a:ext cx="20479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· WARM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73984" y="8743950"/>
            <a:ext cx="204794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Terracotta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773984" y="9258300"/>
            <a:ext cx="204794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#C9603F Pantone 7585 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12433" y="5143500"/>
            <a:ext cx="2505224" cy="51435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14" name="Text 12"/>
          <p:cNvSpPr/>
          <p:nvPr/>
        </p:nvSpPr>
        <p:spPr>
          <a:xfrm>
            <a:off x="6279133" y="5486400"/>
            <a:ext cx="20480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79133" y="8743950"/>
            <a:ext cx="20480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279133" y="9258300"/>
            <a:ext cx="204802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#4A4E2C Pantone 5757 C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17657" y="5143500"/>
            <a:ext cx="2505224" cy="5143500"/>
          </a:xfrm>
          <a:prstGeom prst="rect">
            <a:avLst/>
          </a:prstGeom>
          <a:solidFill>
            <a:srgbClr val="E6A78A"/>
          </a:solidFill>
          <a:ln/>
        </p:spPr>
      </p:sp>
      <p:sp>
        <p:nvSpPr>
          <p:cNvPr id="18" name="Text 16"/>
          <p:cNvSpPr/>
          <p:nvPr/>
        </p:nvSpPr>
        <p:spPr>
          <a:xfrm>
            <a:off x="8784357" y="5486400"/>
            <a:ext cx="20480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41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84357" y="8743950"/>
            <a:ext cx="20480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Rosé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8784357" y="9258300"/>
            <a:ext cx="204802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#E6A78A Pantone 162 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022881" y="5143500"/>
            <a:ext cx="2505224" cy="5143500"/>
          </a:xfrm>
          <a:prstGeom prst="rect">
            <a:avLst/>
          </a:prstGeom>
          <a:solidFill>
            <a:srgbClr val="D9A65B"/>
          </a:solidFill>
          <a:ln/>
        </p:spPr>
      </p:sp>
      <p:sp>
        <p:nvSpPr>
          <p:cNvPr id="22" name="Text 20"/>
          <p:cNvSpPr/>
          <p:nvPr/>
        </p:nvSpPr>
        <p:spPr>
          <a:xfrm>
            <a:off x="11289581" y="5486400"/>
            <a:ext cx="20480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41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289581" y="8743950"/>
            <a:ext cx="20480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289581" y="9258300"/>
            <a:ext cx="204802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#D9A65B Pantone 7563 C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528104" y="5143500"/>
            <a:ext cx="2505149" cy="5143500"/>
          </a:xfrm>
          <a:prstGeom prst="rect">
            <a:avLst/>
          </a:prstGeom>
          <a:solidFill>
            <a:srgbClr val="E8DEC6"/>
          </a:solidFill>
          <a:ln/>
        </p:spPr>
      </p:sp>
      <p:sp>
        <p:nvSpPr>
          <p:cNvPr id="26" name="Text 24"/>
          <p:cNvSpPr/>
          <p:nvPr/>
        </p:nvSpPr>
        <p:spPr>
          <a:xfrm>
            <a:off x="13794804" y="5486400"/>
            <a:ext cx="20479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41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94804" y="8743950"/>
            <a:ext cx="204794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Shell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13794804" y="9258300"/>
            <a:ext cx="204794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#F2EAD6 Pantone 7527 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6033254" y="5143500"/>
            <a:ext cx="2254746" cy="5143500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30" name="Text 28"/>
          <p:cNvSpPr/>
          <p:nvPr/>
        </p:nvSpPr>
        <p:spPr>
          <a:xfrm>
            <a:off x="16261854" y="5486400"/>
            <a:ext cx="18737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261854" y="9124950"/>
            <a:ext cx="187374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6261854" y="9601200"/>
            <a:ext cx="18737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#1A1410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30967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THE LABEL SYSTEM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966604" y="533400"/>
            <a:ext cx="61783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ARCHITECTURE · FOUR VARIANTS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1680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0" i="1" spc="-66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paper, four characters.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143000" y="3158505"/>
            <a:ext cx="3743325" cy="5490195"/>
          </a:xfrm>
          <a:prstGeom prst="rect">
            <a:avLst/>
          </a:prstGeom>
          <a:solidFill>
            <a:srgbClr val="E8DEC6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158505"/>
            <a:ext cx="3743325" cy="5490195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7" name="Shape 5"/>
          <p:cNvSpPr/>
          <p:nvPr/>
        </p:nvSpPr>
        <p:spPr>
          <a:xfrm>
            <a:off x="1816745" y="4036888"/>
            <a:ext cx="2395835" cy="3733428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8" name="Text 6"/>
          <p:cNvSpPr/>
          <p:nvPr/>
        </p:nvSpPr>
        <p:spPr>
          <a:xfrm>
            <a:off x="2560960" y="4710633"/>
            <a:ext cx="9836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75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9750" dirty="0"/>
          </a:p>
        </p:txBody>
      </p:sp>
      <p:sp>
        <p:nvSpPr>
          <p:cNvPr id="9" name="Text 7"/>
          <p:cNvSpPr/>
          <p:nvPr/>
        </p:nvSpPr>
        <p:spPr>
          <a:xfrm>
            <a:off x="2249835" y="5996508"/>
            <a:ext cx="160578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44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61121" y="6490618"/>
            <a:ext cx="78320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Rosé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716857" y="7045300"/>
            <a:ext cx="67173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St. Tropez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78087" y="7459638"/>
            <a:ext cx="187315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8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·· THE ROSÉ THAT WAITS FOR SUNSET ··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84859" y="8839200"/>
            <a:ext cx="185960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 Rosé Olive on rose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29225" y="3158505"/>
            <a:ext cx="3743325" cy="5490195"/>
          </a:xfrm>
          <a:prstGeom prst="rect">
            <a:avLst/>
          </a:prstGeom>
          <a:solidFill>
            <a:srgbClr val="E8DEC6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9225" y="3158505"/>
            <a:ext cx="3743325" cy="5490195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16" name="Shape 14"/>
          <p:cNvSpPr/>
          <p:nvPr/>
        </p:nvSpPr>
        <p:spPr>
          <a:xfrm>
            <a:off x="5902970" y="4036888"/>
            <a:ext cx="2395835" cy="3733428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17" name="Text 15"/>
          <p:cNvSpPr/>
          <p:nvPr/>
        </p:nvSpPr>
        <p:spPr>
          <a:xfrm>
            <a:off x="6647185" y="4710633"/>
            <a:ext cx="9836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75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9750" dirty="0"/>
          </a:p>
        </p:txBody>
      </p:sp>
      <p:sp>
        <p:nvSpPr>
          <p:cNvPr id="18" name="Text 16"/>
          <p:cNvSpPr/>
          <p:nvPr/>
        </p:nvSpPr>
        <p:spPr>
          <a:xfrm>
            <a:off x="6336060" y="5996508"/>
            <a:ext cx="160578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44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28755" y="6490618"/>
            <a:ext cx="62039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793632" y="7045300"/>
            <a:ext cx="6906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Botanique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64312" y="7459638"/>
            <a:ext cx="187315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8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·· LONDON DRY · PROVENÇAL HERBS ··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02474" y="8839200"/>
            <a:ext cx="199675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 Gin Olive on shell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15450" y="3158505"/>
            <a:ext cx="3743325" cy="5490195"/>
          </a:xfrm>
          <a:prstGeom prst="rect">
            <a:avLst/>
          </a:prstGeom>
          <a:solidFill>
            <a:srgbClr val="E8DEC6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15450" y="3158505"/>
            <a:ext cx="3743325" cy="5490195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25" name="Shape 23"/>
          <p:cNvSpPr/>
          <p:nvPr/>
        </p:nvSpPr>
        <p:spPr>
          <a:xfrm>
            <a:off x="9989195" y="4036888"/>
            <a:ext cx="2395835" cy="3733428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26" name="Text 24"/>
          <p:cNvSpPr/>
          <p:nvPr/>
        </p:nvSpPr>
        <p:spPr>
          <a:xfrm>
            <a:off x="10733410" y="4710633"/>
            <a:ext cx="9836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750" i="1" dirty="0">
                <a:solidFill>
                  <a:srgbClr val="D9A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9750" dirty="0"/>
          </a:p>
        </p:txBody>
      </p:sp>
      <p:sp>
        <p:nvSpPr>
          <p:cNvPr id="27" name="Text 25"/>
          <p:cNvSpPr/>
          <p:nvPr/>
        </p:nvSpPr>
        <p:spPr>
          <a:xfrm>
            <a:off x="10422285" y="5996508"/>
            <a:ext cx="160578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44" kern="0" dirty="0">
                <a:solidFill>
                  <a:srgbClr val="D9A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763399" y="6490618"/>
            <a:ext cx="92355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D9A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Blanc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0924729" y="7045300"/>
            <a:ext cx="6009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D9A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Sancerre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284321" y="7459638"/>
            <a:ext cx="180558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89" kern="0" dirty="0">
                <a:solidFill>
                  <a:srgbClr val="D9A6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·· LOIRE · FRANCE ··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50204" y="8839200"/>
            <a:ext cx="367374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 Blanc Ink on shell · gold accent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401675" y="3158505"/>
            <a:ext cx="3743325" cy="5490195"/>
          </a:xfrm>
          <a:prstGeom prst="rect">
            <a:avLst/>
          </a:prstGeom>
          <a:solidFill>
            <a:srgbClr val="E8DEC6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401675" y="3158505"/>
            <a:ext cx="3743325" cy="5490195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34" name="Shape 32"/>
          <p:cNvSpPr/>
          <p:nvPr/>
        </p:nvSpPr>
        <p:spPr>
          <a:xfrm>
            <a:off x="14075420" y="4036888"/>
            <a:ext cx="2395835" cy="3733428"/>
          </a:xfrm>
          <a:prstGeom prst="rect">
            <a:avLst/>
          </a:prstGeom>
          <a:solidFill>
            <a:srgbClr val="1A1410"/>
          </a:solidFill>
          <a:ln/>
        </p:spPr>
      </p:sp>
      <p:sp>
        <p:nvSpPr>
          <p:cNvPr id="35" name="Text 33"/>
          <p:cNvSpPr/>
          <p:nvPr/>
        </p:nvSpPr>
        <p:spPr>
          <a:xfrm>
            <a:off x="14819635" y="4710633"/>
            <a:ext cx="9836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75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9750" dirty="0"/>
          </a:p>
        </p:txBody>
      </p:sp>
      <p:sp>
        <p:nvSpPr>
          <p:cNvPr id="36" name="Text 34"/>
          <p:cNvSpPr/>
          <p:nvPr/>
        </p:nvSpPr>
        <p:spPr>
          <a:xfrm>
            <a:off x="14508510" y="5996508"/>
            <a:ext cx="160578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144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4792251" y="6490618"/>
            <a:ext cx="103837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C960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Rouge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15003066" y="7045300"/>
            <a:ext cx="61674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Magnum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4657859" y="7459638"/>
            <a:ext cx="123088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spc="18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·· MADE IN ST. TROPEZ ··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3507096" y="8839200"/>
            <a:ext cx="35324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 Rouge Ink on shell · red accent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1166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STRIPES &amp; REEDS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83473" y="533400"/>
            <a:ext cx="386152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SUPPORTING MOTIF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3453110"/>
            <a:ext cx="8001000" cy="5690890"/>
          </a:xfrm>
          <a:prstGeom prst="rect">
            <a:avLst/>
          </a:prstGeom>
          <a:solidFill>
            <a:srgbClr val="F2EAD6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0" y="3986510"/>
            <a:ext cx="70637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A04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PATTERN, NOT A DECORATION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15500" y="4515148"/>
            <a:ext cx="7063740" cy="2647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i="1" spc="-19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reed-stripe </a:t>
            </a:r>
            <a:pPr algn="l" indent="0" marL="0">
              <a:lnSpc>
                <a:spcPct val="105000"/>
              </a:lnSpc>
              <a:buNone/>
            </a:pPr>
            <a:r>
              <a:rPr lang="en-US" sz="3900" spc="-19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house's quiet signature — borrowed from a cane parasol on the Riviera and a row of cypress on the road south.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715500" y="7429500"/>
            <a:ext cx="89929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805294" y="7429500"/>
            <a:ext cx="594125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olive : 2 shell — never inverted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15500" y="7758113"/>
            <a:ext cx="89929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805294" y="7758113"/>
            <a:ext cx="594125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Labels, neck wraps, coasters, secondary print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15500" y="8086725"/>
            <a:ext cx="89929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AVOID 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805294" y="8086725"/>
            <a:ext cx="594125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Photography, the wordmark, social avatars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715500" y="8415338"/>
            <a:ext cx="89929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805294" y="8415338"/>
            <a:ext cx="594125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≥ 16 px per stripe at output size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52750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PHOTOGRAPHY DIRECTION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931966" y="533400"/>
            <a:ext cx="521303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1A14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REGISTERS · ONE LIGHT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859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0" i="1" spc="-66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the last hour of light.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1143000" y="1989460"/>
            <a:ext cx="5130775" cy="6413450"/>
          </a:xfrm>
          <a:prstGeom prst="rect">
            <a:avLst/>
          </a:prstGeom>
          <a:solidFill>
            <a:srgbClr val="DCD2BA"/>
          </a:solidFill>
          <a:ln/>
        </p:spPr>
      </p:sp>
      <p:sp>
        <p:nvSpPr>
          <p:cNvPr id="6" name="Text 4"/>
          <p:cNvSpPr/>
          <p:nvPr/>
        </p:nvSpPr>
        <p:spPr>
          <a:xfrm>
            <a:off x="1698833" y="4843760"/>
            <a:ext cx="401903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240" kern="0" dirty="0">
                <a:solidFill>
                  <a:srgbClr val="3E2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STILL LIFE · STUDIO ] Bottle, warm seamless, single hard light from low west.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8593410"/>
            <a:ext cx="52846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i="1" spc="-13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Studio still life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9010576"/>
            <a:ext cx="52846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3E2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paper backdrop, 4500 K, no fill. Hero packaging.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78575" y="1989460"/>
            <a:ext cx="5130775" cy="6413450"/>
          </a:xfrm>
          <a:prstGeom prst="rect">
            <a:avLst/>
          </a:prstGeom>
          <a:solidFill>
            <a:srgbClr val="C9B79A"/>
          </a:solidFill>
          <a:ln/>
        </p:spPr>
      </p:sp>
      <p:sp>
        <p:nvSpPr>
          <p:cNvPr id="10" name="Text 8"/>
          <p:cNvSpPr/>
          <p:nvPr/>
        </p:nvSpPr>
        <p:spPr>
          <a:xfrm>
            <a:off x="7511202" y="4843760"/>
            <a:ext cx="3265447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240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ENVIRONMENT · LAND ] Vines, dry stone, cypress. Golden hour, never midday.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78575" y="8593410"/>
            <a:ext cx="52846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i="1" spc="-13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Land &amp; landscape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578575" y="9010576"/>
            <a:ext cx="52846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3E2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Provence at golden hour. Bottle as small character in a wide frame.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2014150" y="1989460"/>
            <a:ext cx="5130850" cy="6413525"/>
          </a:xfrm>
          <a:prstGeom prst="rect">
            <a:avLst/>
          </a:prstGeom>
          <a:solidFill>
            <a:srgbClr val="E6A78A"/>
          </a:solidFill>
          <a:ln/>
        </p:spPr>
      </p:sp>
      <p:sp>
        <p:nvSpPr>
          <p:cNvPr id="14" name="Text 12"/>
          <p:cNvSpPr/>
          <p:nvPr/>
        </p:nvSpPr>
        <p:spPr>
          <a:xfrm>
            <a:off x="12695681" y="4843760"/>
            <a:ext cx="376778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240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LIFESTYLE · TABLE ] Glasses, hands, dusk linen. Crops are tight, never staged.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14150" y="8593485"/>
            <a:ext cx="528477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i="1" spc="-13" kern="0" dirty="0">
                <a:solidFill>
                  <a:srgbClr val="1A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The table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014150" y="9010650"/>
            <a:ext cx="52847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3E2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 crops, candid hands, evening dimness. People implied, not posed.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1166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VOICE &amp; TAGLINE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580459" y="533400"/>
            <a:ext cx="65645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 LINE · ALTERNATES · REGISTER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905000"/>
            <a:ext cx="164820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 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705100"/>
            <a:ext cx="1648206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0" i="1" spc="-150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Poured by those who arrive.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143000" y="7105650"/>
            <a:ext cx="86334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ALTERNATES — USE SPARINGLY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7677150"/>
            <a:ext cx="86334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Slow-made from the sun.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8286750"/>
            <a:ext cx="86334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Provence, distilled.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8896350"/>
            <a:ext cx="86334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The last good hour, in a bottle.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287000" y="7685856"/>
            <a:ext cx="70637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87000" y="8257356"/>
            <a:ext cx="706374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write short. We never explain a feeling. We use French nouns where they belong ( rosé, blanc, maison, terroir ) and English everywhere else. We do not say luxury, premium, or experience. The bottle does that.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2A98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50275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BOTTLE IN CONTEXT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090401" y="533400"/>
            <a:ext cx="405459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F2EA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SYSTEM, ASSEMBLED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238625" y="3429000"/>
            <a:ext cx="666750" cy="1714500"/>
          </a:xfrm>
          <a:prstGeom prst="roundRect">
            <a:avLst>
              <a:gd name="adj" fmla="val 8571"/>
            </a:avLst>
          </a:prstGeom>
          <a:solidFill>
            <a:srgbClr val="B86B50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4381500"/>
            <a:ext cx="2286000" cy="5334000"/>
          </a:xfrm>
          <a:prstGeom prst="roundRect">
            <a:avLst>
              <a:gd name="adj" fmla="val 37500"/>
            </a:avLst>
          </a:prstGeom>
          <a:solidFill>
            <a:srgbClr val="C77A60"/>
          </a:solidFill>
          <a:ln/>
        </p:spPr>
      </p:sp>
      <p:sp>
        <p:nvSpPr>
          <p:cNvPr id="7" name="Shape 5"/>
          <p:cNvSpPr/>
          <p:nvPr/>
        </p:nvSpPr>
        <p:spPr>
          <a:xfrm>
            <a:off x="3619500" y="5619750"/>
            <a:ext cx="1905000" cy="3048000"/>
          </a:xfrm>
          <a:prstGeom prst="rect">
            <a:avLst/>
          </a:prstGeom>
          <a:solidFill>
            <a:srgbClr val="E8DEC6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19500" y="5619750"/>
            <a:ext cx="1905000" cy="3048000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9" name="Shape 7"/>
          <p:cNvSpPr/>
          <p:nvPr/>
        </p:nvSpPr>
        <p:spPr>
          <a:xfrm>
            <a:off x="3962400" y="6107385"/>
            <a:ext cx="1219200" cy="2072729"/>
          </a:xfrm>
          <a:prstGeom prst="rect">
            <a:avLst/>
          </a:prstGeom>
          <a:solidFill>
            <a:srgbClr val="4A4E2C"/>
          </a:solidFill>
          <a:ln/>
        </p:spPr>
      </p:sp>
      <p:sp>
        <p:nvSpPr>
          <p:cNvPr id="10" name="Text 8"/>
          <p:cNvSpPr/>
          <p:nvPr/>
        </p:nvSpPr>
        <p:spPr>
          <a:xfrm>
            <a:off x="4222998" y="6450285"/>
            <a:ext cx="77420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4041204" y="7459935"/>
            <a:ext cx="11377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316313" y="7803579"/>
            <a:ext cx="58757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Rosé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356943" y="8206829"/>
            <a:ext cx="506313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St. Tropez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038600" y="8487817"/>
            <a:ext cx="1066800" cy="432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75" spc="122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·· THE ROSÉ THAT WAITS FOR SUNSET ··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9715500" y="3036243"/>
            <a:ext cx="7652385" cy="1680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0" i="1" spc="-66" kern="0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 Rosé, assembled.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9715500" y="5060007"/>
            <a:ext cx="529780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F2EAD6">
                    <a:alpha val="9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Aubergine evening, terracotta light, reeds in cream and olive. The mark sits where the sun is going. The bottle holds the rest.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715500" y="6564957"/>
            <a:ext cx="765238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2EAD6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· ILLUSTRATIVE · REPLACE WITH STUDIO PLATE BEFORE PRESS.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182351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FIN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738894" y="533400"/>
            <a:ext cx="540610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E6A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VICTORY — ART DIRECTION V1.0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47211" y="1657350"/>
            <a:ext cx="979350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0" i="1" dirty="0">
                <a:solidFill>
                  <a:srgbClr val="E6A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votre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4247211" y="4705350"/>
            <a:ext cx="9793505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0" i="1" dirty="0">
                <a:solidFill>
                  <a:srgbClr val="F2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santé.</a:t>
            </a:r>
            <a:endParaRPr lang="en-US" sz="24000" dirty="0"/>
          </a:p>
        </p:txBody>
      </p:sp>
      <p:sp>
        <p:nvSpPr>
          <p:cNvPr id="6" name="Text 4"/>
          <p:cNvSpPr/>
          <p:nvPr/>
        </p:nvSpPr>
        <p:spPr>
          <a:xfrm>
            <a:off x="4247211" y="8286750"/>
            <a:ext cx="97935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AB4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END · NEXT REVIEW: PACKAGING DIELINES &amp; WEB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2026-05-19T15:29:20Z</dcterms:created>
  <dcterms:modified xsi:type="dcterms:W3CDTF">2026-05-19T15:29:20Z</dcterms:modified>
</cp:coreProperties>
</file>